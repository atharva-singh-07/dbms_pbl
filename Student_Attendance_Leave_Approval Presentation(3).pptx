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15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869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822960"/>
            <a:ext cx="3749040" cy="3749040"/>
          </a:xfrm>
          <a:prstGeom prst="ellipse">
            <a:avLst/>
          </a:prstGeom>
          <a:ln w="15875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182880"/>
            <a:ext cx="2468880" cy="2468880"/>
          </a:xfrm>
          <a:prstGeom prst="ellipse">
            <a:avLst/>
          </a:prstGeom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26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Implementation of a Database Management System for Student Attendance and Leave Approval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31750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160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and reporting system covering course-wise attendance, leave applications, approvals, makeup sessions, and shortage alerts.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6235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57984" y="5623560"/>
            <a:ext cx="181051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57984" y="56235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Normalization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33088" y="5623560"/>
            <a:ext cx="171907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33088" y="562356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PL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16752" y="5623560"/>
            <a:ext cx="2359152" cy="384048"/>
          </a:xfrm>
          <a:prstGeom prst="roundRect">
            <a:avLst>
              <a:gd name="adj" fmla="val 19048"/>
            </a:avLst>
          </a:prstGeom>
          <a:solidFill>
            <a:srgbClr val="141B49"/>
          </a:solidFill>
          <a:ln w="9525">
            <a:solidFill>
              <a:srgbClr val="5B6B9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16752" y="562356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Python Front-End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  |  MySQL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Identification &amp;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49240" cy="4846320"/>
          </a:xfrm>
          <a:prstGeom prst="roundRect">
            <a:avLst>
              <a:gd name="adj" fmla="val 1509"/>
            </a:avLst>
          </a:prstGeom>
          <a:solidFill>
            <a:srgbClr val="EEF3FF"/>
          </a:solidFill>
          <a:ln/>
        </p:spPr>
      </p:sp>
      <p:sp>
        <p:nvSpPr>
          <p:cNvPr id="5" name="Shape 3"/>
          <p:cNvSpPr/>
          <p:nvPr/>
        </p:nvSpPr>
        <p:spPr>
          <a:xfrm>
            <a:off x="800100" y="1760220"/>
            <a:ext cx="502920" cy="50292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0100" y="17602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514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must track course-wise attendance, process leave approvals, schedule makeup sessions, and flag attendance shortages. Manual consolidation across spreadsheets and paper registers is slow, inconsistent, and error-prone, leaving faculty and administrators without a reliable, real-time view of student attendance.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7548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normalized relational database (3NF) with a Java/Python front-end that automates session creation, attendance marking, leave workflows, makeup entry, percentage calculation, and reporting.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Covers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26480" y="20848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116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Course-wise Attendance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3042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attendance capture for every student, course and section.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0449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2648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 Workflow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264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applications, leave types, and authorized faculty approvals.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40050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931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Sessions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20840" y="4224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and recording of compensatory class sessions.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496519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26480" y="4965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720840" y="4892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Alerts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5184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when attendance percentage drops below threshold.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Objectives, User Roles &amp; Functional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entities, attributes, relationships &amp; roles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73552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6432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ER model to a 3NF relational schema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9904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72784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schema with constraints &amp; sample data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06256" y="1417320"/>
            <a:ext cx="2679192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89136" y="1536192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1847088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SQL reports and a working front-end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58368" y="3593592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8368" y="3593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12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3465576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74904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timetable, applies for leave, tracks attendance 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37083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" y="4581144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8368" y="4581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12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44531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7365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sessions, marks attendance, approves/rejects leave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35838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EEF3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" y="5568696"/>
            <a:ext cx="420624" cy="42062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8368" y="5568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12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4068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HOD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72414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courses, sections, users &amp; consolidated reports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08076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Functional Requirements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080760" y="3483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0" y="3401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courses, sections and class sessions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080760" y="39410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09360" y="38587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and update attendance per student, per session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80760" y="43982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09360" y="43159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review and approve/reject leave applications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080760" y="48554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09360" y="4773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and record makeup session attendance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080760" y="53126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09360" y="52303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attendance percentage and raise shortage alerts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80760" y="5769864"/>
            <a:ext cx="91440" cy="9144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09360" y="56875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joins, aggregate, nested-query and view-based reports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Entities of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enrolled in courses &amp; sections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67278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531870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31870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531870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offered by the institution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1948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1948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41948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scheduled offering of a course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87434" y="1417320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9352026" y="1563624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52026" y="1691640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Faculty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9352026" y="2039112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teaching sections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1792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Session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scheduled meeting of a section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7278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3531870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31870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3531870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status for a class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7356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6441948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1948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 Type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6441948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of leave (medical, personal…)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7434" y="3194304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9352026" y="3340608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352026" y="3468624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450" dirty="0"/>
          </a:p>
        </p:txBody>
      </p:sp>
      <p:sp>
        <p:nvSpPr>
          <p:cNvPr id="35" name="Text 33"/>
          <p:cNvSpPr txBox="1"/>
          <p:nvPr/>
        </p:nvSpPr>
        <p:spPr>
          <a:xfrm>
            <a:off x="9352026" y="3816096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Student's leave request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21792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decision on an application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67278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1" name="Shape 39"/>
          <p:cNvSpPr/>
          <p:nvPr/>
        </p:nvSpPr>
        <p:spPr>
          <a:xfrm>
            <a:off x="3531870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3531870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Makeup Session</a:t>
            </a:r>
            <a:endParaRPr lang="en-US" sz="1450" dirty="0"/>
          </a:p>
        </p:txBody>
      </p:sp>
      <p:sp>
        <p:nvSpPr>
          <p:cNvPr id="43" name="Text 41"/>
          <p:cNvSpPr txBox="1"/>
          <p:nvPr/>
        </p:nvSpPr>
        <p:spPr>
          <a:xfrm>
            <a:off x="3531870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 for missed classes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7356" y="4971288"/>
            <a:ext cx="2544318" cy="1520952"/>
          </a:xfrm>
          <a:prstGeom prst="roundRect">
            <a:avLst>
              <a:gd name="adj" fmla="val 4208"/>
            </a:avLst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6441948" y="5117592"/>
            <a:ext cx="365760" cy="73152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41948" y="5245608"/>
            <a:ext cx="22151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450" dirty="0"/>
          </a:p>
        </p:txBody>
      </p:sp>
      <p:sp>
        <p:nvSpPr>
          <p:cNvPr id="47" name="Text 45"/>
          <p:cNvSpPr txBox="1"/>
          <p:nvPr/>
        </p:nvSpPr>
        <p:spPr>
          <a:xfrm>
            <a:off x="6441948" y="5593080"/>
            <a:ext cx="2215134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of attendance shortage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9225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Entity–Relationship Diagram</a:t>
            </a:r>
            <a:endParaRPr lang="en-US" sz="2600" dirty="0"/>
          </a:p>
        </p:txBody>
      </p:sp>
      <p:sp>
        <p:nvSpPr>
          <p:cNvPr id="72" name="Shape 70"/>
          <p:cNvSpPr/>
          <p:nvPr/>
        </p:nvSpPr>
        <p:spPr>
          <a:xfrm>
            <a:off x="457200" y="6510528"/>
            <a:ext cx="365760" cy="0"/>
          </a:xfrm>
          <a:prstGeom prst="line">
            <a:avLst/>
          </a:prstGeom>
          <a:noFill/>
          <a:ln w="15875">
            <a:solidFill>
              <a:srgbClr val="AEB9DC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914400" y="6355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related entities  •  PK = primary key  •  FK = foreign key</a:t>
            </a:r>
            <a:endParaRPr lang="en-US" sz="1050" dirty="0"/>
          </a:p>
        </p:txBody>
      </p:sp>
      <p:sp>
        <p:nvSpPr>
          <p:cNvPr id="74" name="Text 72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19CF671-A746-C374-6762-DA03E4D01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48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Relational Schema (3NF)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PK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03504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program, dept_id FK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00728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47032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447032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faculty_id PK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447032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dept_id FK, email, phone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4256" y="1353312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0560" y="1435608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90560" y="1719072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PK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290560" y="1938528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course_code UQ, title, credits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3504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PK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FK, faculty_id FK, term, room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00728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47032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Class_Session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447032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447032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section_id FK, session_date, start_time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44256" y="2688336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90560" y="2770632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90560" y="3054096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attendance_id PK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290560" y="3273552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session_id FK, status, marked_at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03504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03504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leave_type_id PK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03504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type_name UQ, max_days_per_term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00728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47032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Leave_Application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447032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PK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447032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leave_type_id FK, from_date, to_date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144256" y="4023360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90560" y="4105656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290560" y="4389120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approval_id PK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290560" y="4608576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application_id FK, faculty_id FK, decision, decided_at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03504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Makeup_Session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03504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makeup_id PK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session_id FK, student_id FK, makeup_date, status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00728" y="5358384"/>
            <a:ext cx="3587496" cy="1188720"/>
          </a:xfrm>
          <a:prstGeom prst="roundRect">
            <a:avLst>
              <a:gd name="adj" fmla="val 3846"/>
            </a:avLst>
          </a:prstGeom>
          <a:solidFill>
            <a:srgbClr val="EEF3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447032" y="5440680"/>
            <a:ext cx="3294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46" name="Text 44"/>
          <p:cNvSpPr txBox="1"/>
          <p:nvPr/>
        </p:nvSpPr>
        <p:spPr>
          <a:xfrm>
            <a:off x="4447032" y="5724144"/>
            <a:ext cx="3294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</a:t>
            </a: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alert_id PK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447032" y="5943600"/>
            <a:ext cx="3294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 </a:t>
            </a:r>
            <a:r>
              <a:rPr lang="en-US" sz="9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FK, alert_type, attendance_pct, created_at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&amp;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Business Rules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187452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attendance record per student per class session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71576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71576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status limited to a fixed set of valid codes (P/A/L/MU)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55701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3557016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 dates must be valid and from_date ≤ to_date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4398264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4398264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 authorized faculty member may approve or reject a leave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5239512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523951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 must fall within the 0–100 range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Through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63640" y="187452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2512" y="199339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82512" y="19933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936992" y="18745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every row in each table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587752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1" name="Shape 19"/>
          <p:cNvSpPr/>
          <p:nvPr/>
        </p:nvSpPr>
        <p:spPr>
          <a:xfrm>
            <a:off x="6382512" y="2706624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82512" y="27066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936992" y="25877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referential integrity across relationships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300984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2512" y="3419856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82512" y="341985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936992" y="33009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course codes, leave types, sessions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014216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29" name="Shape 27"/>
          <p:cNvSpPr/>
          <p:nvPr/>
        </p:nvSpPr>
        <p:spPr>
          <a:xfrm>
            <a:off x="6382512" y="4133088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82512" y="41330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936992" y="401421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mandatory fields are always supplied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727448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3" name="Shape 31"/>
          <p:cNvSpPr/>
          <p:nvPr/>
        </p:nvSpPr>
        <p:spPr>
          <a:xfrm>
            <a:off x="6382512" y="4846320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82512" y="4846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936992" y="472744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status codes, date ranges and percentages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5440680"/>
            <a:ext cx="5468112" cy="594360"/>
          </a:xfrm>
          <a:prstGeom prst="roundRect">
            <a:avLst>
              <a:gd name="adj" fmla="val 7692"/>
            </a:avLst>
          </a:prstGeom>
          <a:solidFill>
            <a:srgbClr val="273478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2512" y="5559552"/>
            <a:ext cx="1417320" cy="365760"/>
          </a:xfrm>
          <a:prstGeom prst="roundRect">
            <a:avLst>
              <a:gd name="adj" fmla="val 15000"/>
            </a:avLst>
          </a:prstGeom>
          <a:solidFill>
            <a:srgbClr val="F2B134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82512" y="5559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936992" y="544068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Auto-fills status and timestamp fields on insert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Retrieval, Views &amp; Reports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Techniques Demonstrated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Multi-table JOINs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331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(COUNT, AVG, SUM)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889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/ correlated subqueries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246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VIEWS for reporting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7033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 for summaries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251960"/>
            <a:ext cx="100584" cy="10058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41605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Date-based filtering &amp; ranges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9204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5010912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s.name, ROUND(100.0 *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a.status='P' THEN 1 ELSE 0 END)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 COUNT(*), 2) AS attendance_pct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 JOIN Attendance a USING (student_id)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s.student_id HAVING attendance_pct &lt; 75;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Generated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63640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9944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Percentage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student, per course attendance 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9992" y="1874520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26296" y="198424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 List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226296" y="2350008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below the minimum attendance threshold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9944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History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9944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leave applications &amp; decisions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79992" y="3209544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26296" y="331927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3685032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counts and average attendance by course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9944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 across the academic term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079992" y="4544568"/>
            <a:ext cx="2651760" cy="1170432"/>
          </a:xfrm>
          <a:prstGeom prst="roundRect">
            <a:avLst>
              <a:gd name="adj" fmla="val 4688"/>
            </a:avLst>
          </a:prstGeom>
          <a:solidFill>
            <a:srgbClr val="EEF3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26296" y="465429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Attendance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9226296" y="5020056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Compensatory sessions attended per student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Application &amp; Engineering Quality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Capabilities (Java / Python)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5216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27832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55848" y="187452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5216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2816352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55848" y="2816352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approval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85216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Makeup entry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27832" y="3758184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5848" y="3758184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calculation &amp; reporting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Quality Focus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63640" y="187452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1947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0370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decomposed and verified to Third Normal Form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269748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2770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Awareness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02666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Commit/rollback around approval &amp; attendance writes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52044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8496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foreign keys and frequently searched columns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34340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46520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446520" y="46725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and CHECK-constraint level validation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66360"/>
            <a:ext cx="5468112" cy="713232"/>
          </a:xfrm>
          <a:prstGeom prst="roundRect">
            <a:avLst>
              <a:gd name="adj" fmla="val 7692"/>
            </a:avLst>
          </a:prstGeom>
          <a:solidFill>
            <a:srgbClr val="EEF3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5239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Testing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46520" y="54955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seeded to test rules and edge cases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471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Attendance &amp; Leave Approval System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11480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of Submission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928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Definition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2585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identification, scope, objectives, user roles and functional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2918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34930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ER Design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38587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covering students, courses, sections, faculty, sessions, attendance, leave types, applications, approvals, makeup sessions and alerts.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4516"/>
            </a:avLst>
          </a:prstGeom>
          <a:solidFill>
            <a:srgbClr val="141B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1005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B1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509320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Relational Schema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965960" y="545896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tables with primary keys, foreign keys and relationships, ready for 3NF normalization.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MySQL •   Front-End: Java or Python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1190</Words>
  <Application>Microsoft Office PowerPoint</Application>
  <PresentationFormat>Widescreen</PresentationFormat>
  <Paragraphs>223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Atva 😭</cp:lastModifiedBy>
  <cp:revision>4</cp:revision>
  <dcterms:created xsi:type="dcterms:W3CDTF">2026-09-09T06:20:12Z</dcterms:created>
  <dcterms:modified xsi:type="dcterms:W3CDTF">2026-10-15T06:56:07Z</dcterms:modified>
</cp:coreProperties>
</file>